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6400800" cy="6400800"/>
          </a:xfrm>
          <a:prstGeom prst="ellipse">
            <a:avLst/>
          </a:prstGeom>
          <a:solidFill>
            <a:srgbClr val="D4A574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4114800"/>
            <a:ext cx="5486400" cy="5486400"/>
          </a:xfrm>
          <a:prstGeom prst="ellipse">
            <a:avLst/>
          </a:prstGeom>
          <a:solidFill>
            <a:srgbClr val="D4A57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457200"/>
            <a:ext cx="1005840" cy="1005840"/>
          </a:xfrm>
          <a:prstGeom prst="ellipse">
            <a:avLst/>
          </a:prstGeom>
          <a:solidFill>
            <a:srgbClr val="D4A574">
              <a:alpha val="30000"/>
            </a:srgbClr>
          </a:solidFill>
          <a:ln w="25400">
            <a:solidFill>
              <a:srgbClr val="D4A57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57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🎓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0" y="4572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📅 عرض تقديمي
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🔢 الإصدار 1.0
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🗓 2026-05-14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57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عرض خاص لإدارة المعهد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spc="400" kern="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IIMS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نظام إدارة المعهد التدريبي المتكامل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914400" y="42976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منصة موحّدة تربط الطالب والمدرب والإدارة والمالية وشؤون المتدربين</a:t>
            </a:r>
            <a:endParaRPr lang="en-US" sz="15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في تجربة رقمية واحدة احترافية تليق بمعهدكم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560320" y="548640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4A574">
              <a:alpha val="25000"/>
            </a:srgbClr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5486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⏱ 4 شهور للتسليم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120640" y="548640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4A574">
              <a:alpha val="25000"/>
            </a:srgbClr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5486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🏛 معتمد TVTC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680960" y="548640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4A574">
              <a:alpha val="25000"/>
            </a:srgbClr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0" y="5486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🌐 عربي بالكامل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4A57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"من الفوضى التشغيلية إلى الإدارة الذكية في 4 شهور"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0" cy="7315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4" name="Shape 2"/>
          <p:cNvSpPr/>
          <p:nvPr/>
        </p:nvSpPr>
        <p:spPr>
          <a:xfrm>
            <a:off x="11384280" y="274320"/>
            <a:ext cx="457200" cy="45720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5" name="Text 3"/>
          <p:cNvSpPr/>
          <p:nvPr/>
        </p:nvSpPr>
        <p:spPr>
          <a:xfrm>
            <a:off x="1138428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57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التحديات الحالية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ما الذي يستنزف وقت معهدكم اليوم؟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0332720" y="1508760"/>
            <a:ext cx="1371600" cy="5486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80٪ من العبء اليومي يأتي من أنظمة مفكّكة وعمليات يدوية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3566160" cy="1828800"/>
          </a:xfrm>
          <a:prstGeom prst="rect">
            <a:avLst/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41648" y="2468880"/>
            <a:ext cx="73152" cy="18288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6517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31520" y="3154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91B1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الواتساب يدير الطلبات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36118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7F1D1D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طلبات تضيع بين محادثات لا تنتهي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79392" y="2468880"/>
            <a:ext cx="3566160" cy="1828800"/>
          </a:xfrm>
          <a:prstGeom prst="rect">
            <a:avLst/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0" y="2468880"/>
            <a:ext cx="73152" cy="18288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4462272" y="26517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462272" y="3154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91B1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Excel يحفظ المالية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462272" y="36118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7F1D1D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متابعة الرسوم في ملفات منفصلة عرضة للفقدان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10144" y="2468880"/>
            <a:ext cx="3566160" cy="1828800"/>
          </a:xfrm>
          <a:prstGeom prst="rect">
            <a:avLst/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503152" y="2468880"/>
            <a:ext cx="73152" cy="18288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8193024" y="26517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193024" y="3154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91B1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الورق يصدر الخطابات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193024" y="36118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7F1D1D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كل خطاب يُكتب يُطبع يُختم يُسلَّم — ساعات ضائعة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480560"/>
            <a:ext cx="3566160" cy="1828800"/>
          </a:xfrm>
          <a:prstGeom prst="rect">
            <a:avLst/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41648" y="4480560"/>
            <a:ext cx="73152" cy="18288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6634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⚠️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731520" y="5166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91B1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لا ربط بين الأقسام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31520" y="56235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7F1D1D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المالية لا ترى الأكاديمي، كل قسم في عالمه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279392" y="4480560"/>
            <a:ext cx="3566160" cy="1828800"/>
          </a:xfrm>
          <a:prstGeom prst="rect">
            <a:avLst/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72400" y="4480560"/>
            <a:ext cx="73152" cy="18288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2" name="Text 30"/>
          <p:cNvSpPr/>
          <p:nvPr/>
        </p:nvSpPr>
        <p:spPr>
          <a:xfrm>
            <a:off x="4462272" y="46634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4462272" y="5166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91B1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صعوبة متابعة الفروع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462272" y="56235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7F1D1D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كل فرع يدير نفسه بطريقة مختلفة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010144" y="4480560"/>
            <a:ext cx="3566160" cy="1828800"/>
          </a:xfrm>
          <a:prstGeom prst="rect">
            <a:avLst/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503152" y="4480560"/>
            <a:ext cx="73152" cy="18288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7" name="Text 35"/>
          <p:cNvSpPr/>
          <p:nvPr/>
        </p:nvSpPr>
        <p:spPr>
          <a:xfrm>
            <a:off x="8193024" y="46634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8193024" y="5166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91B1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تقارير بطيئة جداً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193024" y="56235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7F1D1D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تجميع البيانات الإدارية يحتاج أسابيع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solidFill>
            <a:srgbClr val="D4A574">
              <a:alpha val="4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4E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⚡ المعاهد التي رقمنت عملياتها وفّرت 40-60٪ من وقت موظفيها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0" cy="7315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4" name="Shape 2"/>
          <p:cNvSpPr/>
          <p:nvPr/>
        </p:nvSpPr>
        <p:spPr>
          <a:xfrm>
            <a:off x="11384280" y="274320"/>
            <a:ext cx="457200" cy="45720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5" name="Text 3"/>
          <p:cNvSpPr/>
          <p:nvPr/>
        </p:nvSpPr>
        <p:spPr>
          <a:xfrm>
            <a:off x="1138428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57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الحل المقترح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نظام واحد. ست بوابات. تجربة موحّدة.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0332720" y="1508760"/>
            <a:ext cx="1371600" cy="5486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منصة إدارية متكاملة مصمّمة خصيصاً للمعاهد التدريبية السعودية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3566160" cy="1828800"/>
          </a:xfrm>
          <a:prstGeom prst="rect">
            <a:avLst/>
          </a:prstGeom>
          <a:solidFill>
            <a:srgbClr val="ECFDF5"/>
          </a:solidFill>
          <a:ln w="6350">
            <a:solidFill>
              <a:srgbClr val="0478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2651760"/>
            <a:ext cx="640080" cy="64008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" y="3337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بوابة الطالب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37490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الملف الشخصي + الجدول + الحضور + الدرجات + الطلبات + الوضع المالي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79392" y="2468880"/>
            <a:ext cx="3566160" cy="1828800"/>
          </a:xfrm>
          <a:prstGeom prst="rect">
            <a:avLst/>
          </a:prstGeom>
          <a:solidFill>
            <a:srgbClr val="ECFDF5"/>
          </a:solidFill>
          <a:ln w="6350">
            <a:solidFill>
              <a:srgbClr val="04785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31152" y="2651760"/>
            <a:ext cx="640080" cy="64008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7" name="Text 15"/>
          <p:cNvSpPr/>
          <p:nvPr/>
        </p:nvSpPr>
        <p:spPr>
          <a:xfrm>
            <a:off x="6931152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👨‍🏫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462272" y="3337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بوابة المدرب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462272" y="37490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الجدول + الحضور + الواجبات + الدرجات + التحضير من الجوال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10144" y="2468880"/>
            <a:ext cx="3566160" cy="1828800"/>
          </a:xfrm>
          <a:prstGeom prst="rect">
            <a:avLst/>
          </a:prstGeom>
          <a:solidFill>
            <a:srgbClr val="ECFDF5"/>
          </a:solidFill>
          <a:ln w="6350">
            <a:solidFill>
              <a:srgbClr val="04785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61904" y="2651760"/>
            <a:ext cx="640080" cy="64008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22" name="Text 20"/>
          <p:cNvSpPr/>
          <p:nvPr/>
        </p:nvSpPr>
        <p:spPr>
          <a:xfrm>
            <a:off x="10661904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193024" y="3337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بوابة الإدارة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193024" y="37490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الإشراف على الفروع + الصلاحيات + الاعتمادات + المؤشرات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480560"/>
            <a:ext cx="3566160" cy="1828800"/>
          </a:xfrm>
          <a:prstGeom prst="rect">
            <a:avLst/>
          </a:prstGeom>
          <a:solidFill>
            <a:srgbClr val="ECFDF5"/>
          </a:solidFill>
          <a:ln w="6350">
            <a:solidFill>
              <a:srgbClr val="04785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4663440"/>
            <a:ext cx="640080" cy="64008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0" y="4663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31520" y="53492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بوابة المالية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31520" y="57607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التحصيل + المتأخرات + الحجب الذكي + التقارير المالية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279392" y="4480560"/>
            <a:ext cx="3566160" cy="1828800"/>
          </a:xfrm>
          <a:prstGeom prst="rect">
            <a:avLst/>
          </a:prstGeom>
          <a:solidFill>
            <a:srgbClr val="ECFDF5"/>
          </a:solidFill>
          <a:ln w="6350">
            <a:solidFill>
              <a:srgbClr val="04785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31152" y="4663440"/>
            <a:ext cx="640080" cy="64008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32" name="Text 30"/>
          <p:cNvSpPr/>
          <p:nvPr/>
        </p:nvSpPr>
        <p:spPr>
          <a:xfrm>
            <a:off x="6931152" y="4663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462272" y="53492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شؤون المتدربين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462272" y="57607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متابعة الحالات + الطلبات + الخطابات + الاختبار الشامل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010144" y="4480560"/>
            <a:ext cx="3566160" cy="1828800"/>
          </a:xfrm>
          <a:prstGeom prst="rect">
            <a:avLst/>
          </a:prstGeom>
          <a:solidFill>
            <a:srgbClr val="ECFDF5"/>
          </a:solidFill>
          <a:ln w="6350">
            <a:solidFill>
              <a:srgbClr val="04785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661904" y="4663440"/>
            <a:ext cx="640080" cy="64008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37" name="Text 35"/>
          <p:cNvSpPr/>
          <p:nvPr/>
        </p:nvSpPr>
        <p:spPr>
          <a:xfrm>
            <a:off x="10661904" y="4663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8193024" y="53492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التسجيل والقبول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193024" y="57607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إدارة عمليات التسجيل + القبول + البيانات + المرفقات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0" cy="7315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4" name="Shape 2"/>
          <p:cNvSpPr/>
          <p:nvPr/>
        </p:nvSpPr>
        <p:spPr>
          <a:xfrm>
            <a:off x="11384280" y="274320"/>
            <a:ext cx="457200" cy="45720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5" name="Text 3"/>
          <p:cNvSpPr/>
          <p:nvPr/>
        </p:nvSpPr>
        <p:spPr>
          <a:xfrm>
            <a:off x="1138428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57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الجدول الزمني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خطة 4 شهور — تسليم تدريجي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0332720" y="1508760"/>
            <a:ext cx="1371600" cy="5486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كل مرحلة تنتج نظاماً قابلاً للاستخدام الفعلي قبل الانتقال للتالية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371600" y="3520440"/>
            <a:ext cx="9418320" cy="9144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1" name="Shape 9"/>
          <p:cNvSpPr/>
          <p:nvPr/>
        </p:nvSpPr>
        <p:spPr>
          <a:xfrm>
            <a:off x="1097280" y="2926080"/>
            <a:ext cx="1280160" cy="1280160"/>
          </a:xfrm>
          <a:prstGeom prst="ellipse">
            <a:avLst/>
          </a:prstGeom>
          <a:solidFill>
            <a:srgbClr val="065F46"/>
          </a:solidFill>
          <a:ln w="50800">
            <a:solidFill>
              <a:srgbClr val="D4A5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9260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1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40080" y="43891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الأساس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والاختبارات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5840" y="2377440"/>
            <a:ext cx="1463040" cy="365760"/>
          </a:xfrm>
          <a:prstGeom prst="roundRect">
            <a:avLst>
              <a:gd name="adj" fmla="val 25000"/>
            </a:avLst>
          </a:prstGeom>
          <a:solidFill>
            <a:srgbClr val="D4A574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2377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4E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الشهر 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992880" y="2926080"/>
            <a:ext cx="1280160" cy="1280160"/>
          </a:xfrm>
          <a:prstGeom prst="ellipse">
            <a:avLst/>
          </a:prstGeom>
          <a:solidFill>
            <a:srgbClr val="065F46"/>
          </a:solidFill>
          <a:ln w="50800">
            <a:solidFill>
              <a:srgbClr val="D4A57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92880" y="29260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2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535680" y="43891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الطلاب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والمالية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901440" y="2377440"/>
            <a:ext cx="1463040" cy="365760"/>
          </a:xfrm>
          <a:prstGeom prst="roundRect">
            <a:avLst>
              <a:gd name="adj" fmla="val 25000"/>
            </a:avLst>
          </a:prstGeom>
          <a:solidFill>
            <a:srgbClr val="D4A574"/>
          </a:solidFill>
          <a:ln/>
        </p:spPr>
      </p:sp>
      <p:sp>
        <p:nvSpPr>
          <p:cNvPr id="20" name="Text 18"/>
          <p:cNvSpPr/>
          <p:nvPr/>
        </p:nvSpPr>
        <p:spPr>
          <a:xfrm>
            <a:off x="3901440" y="2377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4E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الشهر 2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88480" y="2926080"/>
            <a:ext cx="1280160" cy="1280160"/>
          </a:xfrm>
          <a:prstGeom prst="ellipse">
            <a:avLst/>
          </a:prstGeom>
          <a:solidFill>
            <a:srgbClr val="065F46"/>
          </a:solidFill>
          <a:ln w="50800">
            <a:solidFill>
              <a:srgbClr val="D4A57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88480" y="29260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3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431280" y="43891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العمليات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اليومية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797040" y="2377440"/>
            <a:ext cx="1463040" cy="365760"/>
          </a:xfrm>
          <a:prstGeom prst="roundRect">
            <a:avLst>
              <a:gd name="adj" fmla="val 25000"/>
            </a:avLst>
          </a:prstGeom>
          <a:solidFill>
            <a:srgbClr val="D4A574"/>
          </a:solidFill>
          <a:ln/>
        </p:spPr>
      </p:sp>
      <p:sp>
        <p:nvSpPr>
          <p:cNvPr id="25" name="Text 23"/>
          <p:cNvSpPr/>
          <p:nvPr/>
        </p:nvSpPr>
        <p:spPr>
          <a:xfrm>
            <a:off x="6797040" y="2377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4E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الشهر 3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784080" y="2926080"/>
            <a:ext cx="1280160" cy="1280160"/>
          </a:xfrm>
          <a:prstGeom prst="ellipse">
            <a:avLst/>
          </a:prstGeom>
          <a:solidFill>
            <a:srgbClr val="065F46"/>
          </a:solidFill>
          <a:ln w="50800">
            <a:solidFill>
              <a:srgbClr val="D4A57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84080" y="29260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4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9326880" y="43891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التكامل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والذكاء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692640" y="2377440"/>
            <a:ext cx="1463040" cy="365760"/>
          </a:xfrm>
          <a:prstGeom prst="roundRect">
            <a:avLst>
              <a:gd name="adj" fmla="val 25000"/>
            </a:avLst>
          </a:prstGeom>
          <a:solidFill>
            <a:srgbClr val="D4A574"/>
          </a:solidFill>
          <a:ln/>
        </p:spPr>
      </p:sp>
      <p:sp>
        <p:nvSpPr>
          <p:cNvPr id="30" name="Text 28"/>
          <p:cNvSpPr/>
          <p:nvPr/>
        </p:nvSpPr>
        <p:spPr>
          <a:xfrm>
            <a:off x="9692640" y="2377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4E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الشهر 4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" y="5486400"/>
            <a:ext cx="2560320" cy="100584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5577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57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4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548640" y="6126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شهور للتسليم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383280" y="5486400"/>
            <a:ext cx="2560320" cy="100584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35" name="Text 33"/>
          <p:cNvSpPr/>
          <p:nvPr/>
        </p:nvSpPr>
        <p:spPr>
          <a:xfrm>
            <a:off x="3383280" y="5577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57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60+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3383280" y="6126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ميزة وظيفية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17920" y="5486400"/>
            <a:ext cx="2560320" cy="100584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38" name="Text 36"/>
          <p:cNvSpPr/>
          <p:nvPr/>
        </p:nvSpPr>
        <p:spPr>
          <a:xfrm>
            <a:off x="6217920" y="5577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57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6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6217920" y="6126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بوابات للمستخدمين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052560" y="5486400"/>
            <a:ext cx="2560320" cy="100584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41" name="Text 39"/>
          <p:cNvSpPr/>
          <p:nvPr/>
        </p:nvSpPr>
        <p:spPr>
          <a:xfrm>
            <a:off x="9052560" y="5577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57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100%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9052560" y="6126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عربي وPDPL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0" cy="7315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4" name="Shape 2"/>
          <p:cNvSpPr/>
          <p:nvPr/>
        </p:nvSpPr>
        <p:spPr>
          <a:xfrm>
            <a:off x="11384280" y="274320"/>
            <a:ext cx="457200" cy="45720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5" name="Text 3"/>
          <p:cNvSpPr/>
          <p:nvPr/>
        </p:nvSpPr>
        <p:spPr>
          <a:xfrm>
            <a:off x="1138428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57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05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الشهر 1 — الأساس والاختبارات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868680"/>
            <a:ext cx="137160" cy="82296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الشهر 1 · الأساس والاختبارات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نبني القاعدة التقنية للنظام بأكملها، ثم نُسلّم منصة الاختبارات الإلكترونية الكاملة مع بنك الأسئلة المركزي وشهادات معتمدة TVTC قابلة للتحقق عبر QR.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743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📦 ما يُسلَّم في نهاية هذا الشهر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55080" y="3154680"/>
            <a:ext cx="5303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نظام تسجيل دخول آمن لجميع المستخدمين</a:t>
            </a:r>
            <a:endParaRPr lang="en-US" sz="1200" dirty="0"/>
          </a:p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دعم 4 فروع مع عزل تام للبيانات</a:t>
            </a:r>
            <a:endParaRPr lang="en-US" sz="1200" dirty="0"/>
          </a:p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بنك أسئلة مركزي يدعم 14 نوع سؤال</a:t>
            </a:r>
            <a:endParaRPr lang="en-US" sz="1200" dirty="0"/>
          </a:p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استيراد مئات الأسئلة من Excel دفعة واحدة</a:t>
            </a:r>
            <a:endParaRPr lang="en-US" sz="1200" dirty="0"/>
          </a:p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اقتراح أسئلة ذكي للمعلم</a:t>
            </a:r>
            <a:endParaRPr lang="en-US" sz="1200" dirty="0"/>
          </a:p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محرك توليد اختبارات تلقائي</a:t>
            </a:r>
            <a:endParaRPr lang="en-US" sz="1200" dirty="0"/>
          </a:p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كود اختبار ذكي (حضوري/منتسب)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154680"/>
            <a:ext cx="5303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تصحيح آلي فوري للموضوعية</a:t>
            </a:r>
            <a:endParaRPr lang="en-US" sz="1200" dirty="0"/>
          </a:p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3 طبقات حماية للاختبارات</a:t>
            </a:r>
            <a:endParaRPr lang="en-US" sz="1200" dirty="0"/>
          </a:p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نظام الدبلومات بتسلسل المواد</a:t>
            </a:r>
            <a:endParaRPr lang="en-US" sz="1200" dirty="0"/>
          </a:p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شهادات معتمدة TVTC برقم رسمي</a:t>
            </a:r>
            <a:endParaRPr lang="en-US" sz="1200" dirty="0"/>
          </a:p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QR + صفحة تحقق عامة للشهادات</a:t>
            </a:r>
            <a:endParaRPr lang="en-US" sz="1200" dirty="0"/>
          </a:p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تطبيق ويب للتحضير على الجوال</a:t>
            </a:r>
            <a:endParaRPr lang="en-US" sz="1200" dirty="0"/>
          </a:p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تقارير أكاديمية أساسية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6080760"/>
            <a:ext cx="11247120" cy="548640"/>
          </a:xfrm>
          <a:prstGeom prst="rect">
            <a:avLst/>
          </a:prstGeom>
          <a:solidFill>
            <a:srgbClr val="FEF3C7"/>
          </a:solidFill>
          <a:ln w="6350">
            <a:solidFill>
              <a:srgbClr val="D4A57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567160" y="6080760"/>
            <a:ext cx="137160" cy="548640"/>
          </a:xfrm>
          <a:prstGeom prst="rect">
            <a:avLst/>
          </a:prstGeom>
          <a:solidFill>
            <a:srgbClr val="B5885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60807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8350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🎯 بعد 4 أسابيع — منصة اختبارات احترافية تليق بمعهد معتمد TVTC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0" cy="7315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4" name="Shape 2"/>
          <p:cNvSpPr/>
          <p:nvPr/>
        </p:nvSpPr>
        <p:spPr>
          <a:xfrm>
            <a:off x="11384280" y="274320"/>
            <a:ext cx="457200" cy="45720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5" name="Text 3"/>
          <p:cNvSpPr/>
          <p:nvPr/>
        </p:nvSpPr>
        <p:spPr>
          <a:xfrm>
            <a:off x="1138428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57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06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الشهر 2 — الطلاب والمالية ⭐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868680"/>
            <a:ext cx="137160" cy="82296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الشهر 2 · الطلاب والمالية ⭐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الشهر الأهم في المشروع. نُسلّم إدارة طلاب متكاملة ونربط النظام ببرنامجكم المحاسبي عبر API، ثم نُفعّل محرك الحجب الذكي للخدمات.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743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📦 ما يُسلَّم في نهاية هذا الشهر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55080" y="3154680"/>
            <a:ext cx="5303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ملف طالب شامل (أكاديمي + مالي + إداري)</a:t>
            </a:r>
            <a:endParaRPr lang="en-US" sz="1200" dirty="0"/>
          </a:p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8 حالات للطالب مع تاريخ كامل</a:t>
            </a:r>
            <a:endParaRPr lang="en-US" sz="1200" dirty="0"/>
          </a:p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نقل الطلاب بين الفروع</a:t>
            </a:r>
            <a:endParaRPr lang="en-US" sz="1200" dirty="0"/>
          </a:p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حقول التوظيف الاختيارية</a:t>
            </a:r>
            <a:endParaRPr lang="en-US" sz="1200" dirty="0"/>
          </a:p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ربط مع البرنامج المحاسبي عبر API</a:t>
            </a:r>
            <a:endParaRPr lang="en-US" sz="1200" dirty="0"/>
          </a:p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تزامن تلقائي للدفعات كل 15 دقيقة</a:t>
            </a:r>
            <a:endParaRPr lang="en-US" sz="1200" dirty="0"/>
          </a:p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محرك الحجب الذكي للخدمات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154680"/>
            <a:ext cx="5303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قواعد حجب قابلة للتعديل من الإدارة</a:t>
            </a:r>
            <a:endParaRPr lang="en-US" sz="1200" dirty="0"/>
          </a:p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فك الحجب الفوري مع توثيق إلزامي</a:t>
            </a:r>
            <a:endParaRPr lang="en-US" sz="1200" dirty="0"/>
          </a:p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لوحات مالية للإدارة لحظياً</a:t>
            </a:r>
            <a:endParaRPr lang="en-US" sz="1200" dirty="0"/>
          </a:p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تقرير المتأخرين بأسماء وأرقام</a:t>
            </a:r>
            <a:endParaRPr lang="en-US" sz="1200" dirty="0"/>
          </a:p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إشعارات تلقائية للطالب قبل الاستحقاق</a:t>
            </a:r>
            <a:endParaRPr lang="en-US" sz="1200" dirty="0"/>
          </a:p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تقارير الفروع المالية</a:t>
            </a:r>
            <a:endParaRPr lang="en-US" sz="1200" dirty="0"/>
          </a:p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سجل تدقيق كامل للحجب وفك الحجب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6080760"/>
            <a:ext cx="11247120" cy="548640"/>
          </a:xfrm>
          <a:prstGeom prst="rect">
            <a:avLst/>
          </a:prstGeom>
          <a:solidFill>
            <a:srgbClr val="FEF3C7"/>
          </a:solidFill>
          <a:ln w="6350">
            <a:solidFill>
              <a:srgbClr val="D4A57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567160" y="6080760"/>
            <a:ext cx="137160" cy="548640"/>
          </a:xfrm>
          <a:prstGeom prst="rect">
            <a:avLst/>
          </a:prstGeom>
          <a:solidFill>
            <a:srgbClr val="B5885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60807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8350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🎯 المعاهد المماثلة شهدت ارتفاع التحصيل بنسبة 25-40٪ في أول 3 أشهر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0" cy="7315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4" name="Shape 2"/>
          <p:cNvSpPr/>
          <p:nvPr/>
        </p:nvSpPr>
        <p:spPr>
          <a:xfrm>
            <a:off x="11384280" y="274320"/>
            <a:ext cx="457200" cy="45720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5" name="Text 3"/>
          <p:cNvSpPr/>
          <p:nvPr/>
        </p:nvSpPr>
        <p:spPr>
          <a:xfrm>
            <a:off x="1138428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57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07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الشهر 3 — العمليات اليومية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868680"/>
            <a:ext cx="137160" cy="82296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الشهر 3 · العمليات اليومية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نُسلّم محرك الطلبات والخطابات الذي يُلغي العمل الورقي، مع إدارة شاملة لشؤون المتدربين والتسجيل والقبول والعمليات الأكاديمية اليومية.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743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📦 ما يُسلَّم في نهاية هذا الشهر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55080" y="3154680"/>
            <a:ext cx="5303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محرك طلبات ذكي لـ14 نوع طلب</a:t>
            </a:r>
            <a:endParaRPr lang="en-US" sz="1200" dirty="0"/>
          </a:p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مسارات تلقائية بين الأقسام</a:t>
            </a:r>
            <a:endParaRPr lang="en-US" sz="1200" dirty="0"/>
          </a:p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SLA لكل طلب مع تصعيد تلقائي</a:t>
            </a:r>
            <a:endParaRPr lang="en-US" sz="1200" dirty="0"/>
          </a:p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مولّد خطابات PDF احترافي</a:t>
            </a:r>
            <a:endParaRPr lang="en-US" sz="1200" dirty="0"/>
          </a:p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12+ خطاب جاهز (تعريف، إفادة، شهادة...)</a:t>
            </a:r>
            <a:endParaRPr lang="en-US" sz="1200" dirty="0"/>
          </a:p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خطابات السلم الوظيفي للموظفين</a:t>
            </a:r>
            <a:endParaRPr lang="en-US" sz="1200" dirty="0"/>
          </a:p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توقيع رقمي + QR لكل خطاب</a:t>
            </a:r>
            <a:endParaRPr lang="en-US" sz="1200" dirty="0"/>
          </a:p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سيرة ذاتية تلقائية للطالب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154680"/>
            <a:ext cx="5303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نظام تذاكر داخلي للموظفين</a:t>
            </a:r>
            <a:endParaRPr lang="en-US" sz="1200" dirty="0"/>
          </a:p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بوابة شؤون المتدربين الكاملة</a:t>
            </a:r>
            <a:endParaRPr lang="en-US" sz="1200" dirty="0"/>
          </a:p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بوابة التسجيل والقبول (7 مراحل)</a:t>
            </a:r>
            <a:endParaRPr lang="en-US" sz="1200" dirty="0"/>
          </a:p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صفحة تسجيل عامة للقبول</a:t>
            </a:r>
            <a:endParaRPr lang="en-US" sz="1200" dirty="0"/>
          </a:p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إدارة الجداول (صباحي/مسائي/ويكند)</a:t>
            </a:r>
            <a:endParaRPr lang="en-US" sz="1200" dirty="0"/>
          </a:p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الحضور المتقدم + الإنذارات</a:t>
            </a:r>
            <a:endParaRPr lang="en-US" sz="1200" dirty="0"/>
          </a:p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الواجبات + الاختبار الشامل</a:t>
            </a:r>
            <a:endParaRPr lang="en-US" sz="1200" dirty="0"/>
          </a:p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التقويم الموحّد + مكتبة الموارد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6080760"/>
            <a:ext cx="11247120" cy="548640"/>
          </a:xfrm>
          <a:prstGeom prst="rect">
            <a:avLst/>
          </a:prstGeom>
          <a:solidFill>
            <a:srgbClr val="FEF3C7"/>
          </a:solidFill>
          <a:ln w="6350">
            <a:solidFill>
              <a:srgbClr val="D4A57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567160" y="6080760"/>
            <a:ext cx="137160" cy="548640"/>
          </a:xfrm>
          <a:prstGeom prst="rect">
            <a:avLst/>
          </a:prstGeom>
          <a:solidFill>
            <a:srgbClr val="B5885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60807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8350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🎯 نهاية الشهر الثالث = معهدكم يعمل رقمياً 100٪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0" cy="7315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4" name="Shape 2"/>
          <p:cNvSpPr/>
          <p:nvPr/>
        </p:nvSpPr>
        <p:spPr>
          <a:xfrm>
            <a:off x="11384280" y="274320"/>
            <a:ext cx="457200" cy="45720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5" name="Text 3"/>
          <p:cNvSpPr/>
          <p:nvPr/>
        </p:nvSpPr>
        <p:spPr>
          <a:xfrm>
            <a:off x="1138428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57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08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الشهر 4 — التكامل والذكاء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868680"/>
            <a:ext cx="137160" cy="82296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الشهر 4 · التكامل والذكاء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الشهر الأخير: نُكمل تكامل النظام مع TVTC والوزارة لرفع نتائج وحضور المتدربين رسمياً، ونُسلّم التقارير المتقدمة والتكاملات الذكية.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743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📦 ما يُسلَّم في نهاية هذا الشهر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55080" y="3154680"/>
            <a:ext cx="5303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تكامل TVTC الكامل لتسجيل المتدربين</a:t>
            </a:r>
            <a:endParaRPr lang="en-US" sz="1200" dirty="0"/>
          </a:p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إرسال الدرجات للوزارة آلياً</a:t>
            </a:r>
            <a:endParaRPr lang="en-US" sz="1200" dirty="0"/>
          </a:p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تقارير الحضور الدورية للوزارة</a:t>
            </a:r>
            <a:endParaRPr lang="en-US" sz="1200" dirty="0"/>
          </a:p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اعتماد رسمي للشهادات من TVTC</a:t>
            </a:r>
            <a:endParaRPr lang="en-US" sz="1200" dirty="0"/>
          </a:p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لوحة الامتثال الحكومي</a:t>
            </a:r>
            <a:endParaRPr lang="en-US" sz="1200" dirty="0"/>
          </a:p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لوحات Dashboards لكل دور</a:t>
            </a:r>
            <a:endParaRPr lang="en-US" sz="1200" dirty="0"/>
          </a:p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20+ تقرير جاهز بتصدير Excel + PDF</a:t>
            </a:r>
            <a:endParaRPr lang="en-US" sz="1200" dirty="0"/>
          </a:p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تقارير حسب الفرع/الفترة/البرنامج</a:t>
            </a:r>
            <a:endParaRPr lang="en-US" sz="1200" dirty="0"/>
          </a:p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أرشيف رقمي شامل للمعلمين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154680"/>
            <a:ext cx="5303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نظام تقييم المعلمين من الطلاب</a:t>
            </a:r>
            <a:endParaRPr lang="en-US" sz="1200" dirty="0"/>
          </a:p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اكتشاف الطلاب المتعثرين مبكراً</a:t>
            </a:r>
            <a:endParaRPr lang="en-US" sz="1200" dirty="0"/>
          </a:p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إرسال WhatsApp للإشعارات</a:t>
            </a:r>
            <a:endParaRPr lang="en-US" sz="1200" dirty="0"/>
          </a:p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إرسال SMS للتنبيهات الحرجة</a:t>
            </a:r>
            <a:endParaRPr lang="en-US" sz="1200" dirty="0"/>
          </a:p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إرسال Email للخطابات الرسمية</a:t>
            </a:r>
            <a:endParaRPr lang="en-US" sz="1200" dirty="0"/>
          </a:p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مساعد ذكي للطلاب 24/7</a:t>
            </a:r>
            <a:endParaRPr lang="en-US" sz="1200" dirty="0"/>
          </a:p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تسجيل دخول بنفاذ</a:t>
            </a:r>
            <a:endParaRPr lang="en-US" sz="1200" dirty="0"/>
          </a:p>
          <a:p>
            <a:pPr algn="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بوابة الخريجين للمتابعة المهنية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6080760"/>
            <a:ext cx="11247120" cy="548640"/>
          </a:xfrm>
          <a:prstGeom prst="rect">
            <a:avLst/>
          </a:prstGeom>
          <a:solidFill>
            <a:srgbClr val="FEF3C7"/>
          </a:solidFill>
          <a:ln w="6350">
            <a:solidFill>
              <a:srgbClr val="D4A57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567160" y="6080760"/>
            <a:ext cx="137160" cy="548640"/>
          </a:xfrm>
          <a:prstGeom prst="rect">
            <a:avLst/>
          </a:prstGeom>
          <a:solidFill>
            <a:srgbClr val="B5885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60807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8350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🎯 معهدكم يصبح نموذجاً رقمياً متكاملاً للمعاهد التدريبية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0" cy="7315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4" name="Shape 2"/>
          <p:cNvSpPr/>
          <p:nvPr/>
        </p:nvSpPr>
        <p:spPr>
          <a:xfrm>
            <a:off x="11384280" y="274320"/>
            <a:ext cx="457200" cy="45720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5" name="Text 3"/>
          <p:cNvSpPr/>
          <p:nvPr/>
        </p:nvSpPr>
        <p:spPr>
          <a:xfrm>
            <a:off x="1138428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57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09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الإضافة الخاصة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➕ نظام إدارة الموظفين (HR)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0332720" y="1508760"/>
            <a:ext cx="1371600" cy="5486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إضافة مستقلة تكمل المنظومة — تُطوَّر بالتوازي مع المرحلة 4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11247120" cy="640080"/>
          </a:xfrm>
          <a:prstGeom prst="rect">
            <a:avLst/>
          </a:prstGeom>
          <a:solidFill>
            <a:srgbClr val="B5885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2860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+5,000 ريال — تُطوَّر بالتوازي مع المرحلة 4 — لا تطيل المشروع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0" y="3200400"/>
            <a:ext cx="5303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🔓 بصمة الحضور للموظفين (دخول/خروج إداري)</a:t>
            </a:r>
            <a:endParaRPr lang="en-US" sz="1300" dirty="0"/>
          </a:p>
          <a:p>
            <a:pPr algn="r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📅 سجل الدوام اليومي للإداريين</a:t>
            </a:r>
            <a:endParaRPr lang="en-US" sz="1300" dirty="0"/>
          </a:p>
          <a:p>
            <a:pPr algn="r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🏖 إدارة الإجازات (4 أنواع)</a:t>
            </a:r>
            <a:endParaRPr lang="en-US" sz="1300" dirty="0"/>
          </a:p>
          <a:p>
            <a:pPr algn="r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📨 تقديم طلب إجازة + اعتماد المدير</a:t>
            </a:r>
            <a:endParaRPr lang="en-US" sz="1300" dirty="0"/>
          </a:p>
          <a:p>
            <a:pPr algn="r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📊 رصيد الإجازات (متبقي/مستحق/مستهلك)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200400"/>
            <a:ext cx="5303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⏰ الإذونات والاستئذان والانصراف المبكر</a:t>
            </a:r>
            <a:endParaRPr lang="en-US" sz="1300" dirty="0"/>
          </a:p>
          <a:p>
            <a:pPr algn="r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📈 تقارير الدوام (تأخير/غياب/إضافي)</a:t>
            </a:r>
            <a:endParaRPr lang="en-US" sz="1300" dirty="0"/>
          </a:p>
          <a:p>
            <a:pPr algn="r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📁 الأرشيف الوظيفي (عقود/تقييمات)</a:t>
            </a:r>
            <a:endParaRPr lang="en-US" sz="1300" dirty="0"/>
          </a:p>
          <a:p>
            <a:pPr algn="r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🎓 تدريب 1.5 ساعة للإدارة</a:t>
            </a:r>
            <a:endParaRPr lang="en-US" sz="1300" dirty="0"/>
          </a:p>
          <a:p>
            <a:pPr algn="r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🛠 صيانة سنة كاملة مشمولة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6035040"/>
            <a:ext cx="11247120" cy="640080"/>
          </a:xfrm>
          <a:prstGeom prst="rect">
            <a:avLst/>
          </a:prstGeom>
          <a:solidFill>
            <a:srgbClr val="ECFDF5"/>
          </a:solidFill>
          <a:ln w="6350">
            <a:solidFill>
              <a:srgbClr val="0478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6035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4E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👥 لماذا هذه الإضافة قيمة؟ النظام الأساسي يدير الطلاب والمدربين — هذه الإضافة تكمل بإدارة الموظفين الإداريين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0" cy="7315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4" name="Shape 2"/>
          <p:cNvSpPr/>
          <p:nvPr/>
        </p:nvSpPr>
        <p:spPr>
          <a:xfrm>
            <a:off x="11384280" y="274320"/>
            <a:ext cx="457200" cy="45720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5" name="Text 3"/>
          <p:cNvSpPr/>
          <p:nvPr/>
        </p:nvSpPr>
        <p:spPr>
          <a:xfrm>
            <a:off x="1138428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57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ضمانات الجودة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جودة لا قابلة للتنازل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0332720" y="1508760"/>
            <a:ext cx="1371600" cy="5486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10 معايير جودة إلزامية قبل اعتماد كل مرحلة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2423160"/>
            <a:ext cx="5486400" cy="713232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64240" y="2542032"/>
            <a:ext cx="457200" cy="45720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2" name="Text 10"/>
          <p:cNvSpPr/>
          <p:nvPr/>
        </p:nvSpPr>
        <p:spPr>
          <a:xfrm>
            <a:off x="11064240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57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55080" y="24688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اختبارات شاملة قبل التسليم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55080" y="27889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تغطية اختبارات ≥80٪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3227832"/>
            <a:ext cx="5486400" cy="713232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064240" y="3346704"/>
            <a:ext cx="457200" cy="45720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7" name="Text 15"/>
          <p:cNvSpPr/>
          <p:nvPr/>
        </p:nvSpPr>
        <p:spPr>
          <a:xfrm>
            <a:off x="11064240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57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32735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متوافق PDPL السعودي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359359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تشفير + حقوق الطالب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4032504"/>
            <a:ext cx="5486400" cy="713232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064240" y="4151376"/>
            <a:ext cx="457200" cy="45720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22" name="Text 20"/>
          <p:cNvSpPr/>
          <p:nvPr/>
        </p:nvSpPr>
        <p:spPr>
          <a:xfrm>
            <a:off x="11064240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57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55080" y="407822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عربي بالكامل + RTL أصلي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55080" y="439826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ليس ترجمة بل تصميم عربي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4837176"/>
            <a:ext cx="5486400" cy="713232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64240" y="4956048"/>
            <a:ext cx="457200" cy="45720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27" name="Text 25"/>
          <p:cNvSpPr/>
          <p:nvPr/>
        </p:nvSpPr>
        <p:spPr>
          <a:xfrm>
            <a:off x="11064240" y="4956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57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55080" y="488289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أداء عالي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55080" y="520293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تحميل &lt; 2 ثانية حتى مع 200 متزامن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5641848"/>
            <a:ext cx="5486400" cy="713232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064240" y="5760720"/>
            <a:ext cx="457200" cy="45720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32" name="Text 30"/>
          <p:cNvSpPr/>
          <p:nvPr/>
        </p:nvSpPr>
        <p:spPr>
          <a:xfrm>
            <a:off x="11064240" y="5760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57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355080" y="568756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نسخ احتياطي يومي مشفّر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55080" y="600760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استعادة كاملة &lt; 4 ساعات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2423160"/>
            <a:ext cx="5486400" cy="713232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03520" y="2542032"/>
            <a:ext cx="457200" cy="45720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37" name="Text 35"/>
          <p:cNvSpPr/>
          <p:nvPr/>
        </p:nvSpPr>
        <p:spPr>
          <a:xfrm>
            <a:off x="5303520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57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94360" y="24688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سجل تدقيق كامل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94360" y="27889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كل تعديل حساس مسجّل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3227832"/>
            <a:ext cx="5486400" cy="713232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303520" y="3346704"/>
            <a:ext cx="457200" cy="45720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42" name="Text 40"/>
          <p:cNvSpPr/>
          <p:nvPr/>
        </p:nvSpPr>
        <p:spPr>
          <a:xfrm>
            <a:off x="5303520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57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7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94360" y="32735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تدريب الموظفين قبل الإطلاق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94360" y="359359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جلسات + فيديوهات + دليل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4032504"/>
            <a:ext cx="5486400" cy="713232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303520" y="4151376"/>
            <a:ext cx="457200" cy="45720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47" name="Text 45"/>
          <p:cNvSpPr/>
          <p:nvPr/>
        </p:nvSpPr>
        <p:spPr>
          <a:xfrm>
            <a:off x="5303520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57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8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94360" y="407822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ملكية كاملة للبيانات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94360" y="439826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بياناتكم لكم. تصدير في أي وقت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57200" y="4837176"/>
            <a:ext cx="5486400" cy="713232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303520" y="4956048"/>
            <a:ext cx="457200" cy="45720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52" name="Text 50"/>
          <p:cNvSpPr/>
          <p:nvPr/>
        </p:nvSpPr>
        <p:spPr>
          <a:xfrm>
            <a:off x="5303520" y="4956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57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9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594360" y="488289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قابلية التوسع المستقبلية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94360" y="520293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إضافة فروع وبرامج بدون إعادة بناء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" y="5641848"/>
            <a:ext cx="5486400" cy="713232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303520" y="5760720"/>
            <a:ext cx="457200" cy="45720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57" name="Text 55"/>
          <p:cNvSpPr/>
          <p:nvPr/>
        </p:nvSpPr>
        <p:spPr>
          <a:xfrm>
            <a:off x="5303520" y="5760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57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10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594360" y="568756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دعم فني متخصّص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594360" y="600760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قنوات واضحة + أوقات استجابة محددة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0" cy="7315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4" name="Shape 2"/>
          <p:cNvSpPr/>
          <p:nvPr/>
        </p:nvSpPr>
        <p:spPr>
          <a:xfrm>
            <a:off x="11384280" y="274320"/>
            <a:ext cx="457200" cy="45720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5" name="Text 3"/>
          <p:cNvSpPr/>
          <p:nvPr/>
        </p:nvSpPr>
        <p:spPr>
          <a:xfrm>
            <a:off x="1138428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57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ما يميّزنا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ميزات تنافسية لا تجدونها في الأنظمة العامة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0332720" y="1508760"/>
            <a:ext cx="1371600" cy="5486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مُصمَّم لبيئة المعاهد التدريبية السعودية بكل تفاصيلها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3566160" cy="1828800"/>
          </a:xfrm>
          <a:prstGeom prst="rect">
            <a:avLst/>
          </a:prstGeom>
          <a:solidFill>
            <a:srgbClr val="FAFAF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41648" y="2423160"/>
            <a:ext cx="73152" cy="18288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0" y="2651760"/>
            <a:ext cx="640080" cy="64008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🏛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31520" y="3383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مُصمَّم لمعاهد TVTC السعودية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749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ليس نظاماً عاماً مترجماً، بل مبني لبيئة المعاهد المعتمدة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79392" y="2423160"/>
            <a:ext cx="3566160" cy="1828800"/>
          </a:xfrm>
          <a:prstGeom prst="rect">
            <a:avLst/>
          </a:prstGeom>
          <a:solidFill>
            <a:srgbClr val="FAFAF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0" y="2423160"/>
            <a:ext cx="73152" cy="18288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8" name="Shape 16"/>
          <p:cNvSpPr/>
          <p:nvPr/>
        </p:nvSpPr>
        <p:spPr>
          <a:xfrm>
            <a:off x="6931152" y="2651760"/>
            <a:ext cx="640080" cy="64008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9" name="Text 17"/>
          <p:cNvSpPr/>
          <p:nvPr/>
        </p:nvSpPr>
        <p:spPr>
          <a:xfrm>
            <a:off x="6931152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💼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462272" y="3383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مُهيّأ للموظفين الحكوميين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462272" y="3749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حقول السلم الوظيفي، خطابات الجهات الحكومية، جداول مرنة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010144" y="2423160"/>
            <a:ext cx="3566160" cy="1828800"/>
          </a:xfrm>
          <a:prstGeom prst="rect">
            <a:avLst/>
          </a:prstGeom>
          <a:solidFill>
            <a:srgbClr val="FAFAF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503152" y="2423160"/>
            <a:ext cx="73152" cy="18288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24" name="Shape 22"/>
          <p:cNvSpPr/>
          <p:nvPr/>
        </p:nvSpPr>
        <p:spPr>
          <a:xfrm>
            <a:off x="10661904" y="2651760"/>
            <a:ext cx="640080" cy="64008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25" name="Text 23"/>
          <p:cNvSpPr/>
          <p:nvPr/>
        </p:nvSpPr>
        <p:spPr>
          <a:xfrm>
            <a:off x="10661904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193024" y="3383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يتكامل مع برنامجكم المحاسبي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193024" y="3749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لا نطلب تغيير برنامج المحاسبة. تكامل API احترافي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434840"/>
            <a:ext cx="3566160" cy="1828800"/>
          </a:xfrm>
          <a:prstGeom prst="rect">
            <a:avLst/>
          </a:prstGeom>
          <a:solidFill>
            <a:srgbClr val="FAFAF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41648" y="4434840"/>
            <a:ext cx="73152" cy="18288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0" name="Shape 28"/>
          <p:cNvSpPr/>
          <p:nvPr/>
        </p:nvSpPr>
        <p:spPr>
          <a:xfrm>
            <a:off x="3200400" y="4663440"/>
            <a:ext cx="640080" cy="64008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0" y="4663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31520" y="5394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قابل للنمو معكم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31520" y="5760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4 فروع و1000 طالب اليوم، توسّع لاحقاً بدون إعادة بناء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279392" y="4434840"/>
            <a:ext cx="3566160" cy="1828800"/>
          </a:xfrm>
          <a:prstGeom prst="rect">
            <a:avLst/>
          </a:prstGeom>
          <a:solidFill>
            <a:srgbClr val="FAFAF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72400" y="4434840"/>
            <a:ext cx="73152" cy="18288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6" name="Shape 34"/>
          <p:cNvSpPr/>
          <p:nvPr/>
        </p:nvSpPr>
        <p:spPr>
          <a:xfrm>
            <a:off x="6931152" y="4663440"/>
            <a:ext cx="640080" cy="64008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37" name="Text 35"/>
          <p:cNvSpPr/>
          <p:nvPr/>
        </p:nvSpPr>
        <p:spPr>
          <a:xfrm>
            <a:off x="6931152" y="4663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4462272" y="5394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يعمل على المتصفح والجوال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462272" y="5760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لا حاجة لتطبيقات تثبيت. PWA للمدربين على الجوال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010144" y="4434840"/>
            <a:ext cx="3566160" cy="1828800"/>
          </a:xfrm>
          <a:prstGeom prst="rect">
            <a:avLst/>
          </a:prstGeom>
          <a:solidFill>
            <a:srgbClr val="FAFAF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503152" y="4434840"/>
            <a:ext cx="73152" cy="18288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42" name="Shape 40"/>
          <p:cNvSpPr/>
          <p:nvPr/>
        </p:nvSpPr>
        <p:spPr>
          <a:xfrm>
            <a:off x="10661904" y="4663440"/>
            <a:ext cx="640080" cy="64008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43" name="Text 41"/>
          <p:cNvSpPr/>
          <p:nvPr/>
        </p:nvSpPr>
        <p:spPr>
          <a:xfrm>
            <a:off x="10661904" y="4663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8193024" y="5394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شهادات قابلة للتحقق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193024" y="5760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كل شهادة بـQR — تتحقق منها أي جهة عمل في ثوانٍ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0" cy="7315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4" name="Shape 2"/>
          <p:cNvSpPr/>
          <p:nvPr/>
        </p:nvSpPr>
        <p:spPr>
          <a:xfrm>
            <a:off x="11384280" y="274320"/>
            <a:ext cx="457200" cy="45720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5" name="Text 3"/>
          <p:cNvSpPr/>
          <p:nvPr/>
        </p:nvSpPr>
        <p:spPr>
          <a:xfrm>
            <a:off x="1138428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57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الخطة المالية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استثمار مدروس بقيمة شاملة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0332720" y="1508760"/>
            <a:ext cx="1371600" cy="5486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قيمة شاملة بشفافية كاملة — لا رسوم خفية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371600" y="2468880"/>
            <a:ext cx="9418320" cy="256032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11" name="Shape 9"/>
          <p:cNvSpPr/>
          <p:nvPr/>
        </p:nvSpPr>
        <p:spPr>
          <a:xfrm>
            <a:off x="9601200" y="1554480"/>
            <a:ext cx="2743200" cy="2743200"/>
          </a:xfrm>
          <a:prstGeom prst="ellipse">
            <a:avLst/>
          </a:prstGeom>
          <a:solidFill>
            <a:srgbClr val="D4A574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265176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57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إجمالي الاستثمار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3108960"/>
            <a:ext cx="9418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45,000</a:t>
            </a:r>
            <a:endParaRPr lang="en-US" sz="9600" dirty="0"/>
          </a:p>
        </p:txBody>
      </p:sp>
      <p:sp>
        <p:nvSpPr>
          <p:cNvPr id="14" name="Text 12"/>
          <p:cNvSpPr/>
          <p:nvPr/>
        </p:nvSpPr>
        <p:spPr>
          <a:xfrm>
            <a:off x="1371600" y="425196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57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ريال سعودي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71600" y="461772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40,000 (النظام الأساسي 4 مراحل) + 5,000 (نظام إدارة الموظفين)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5349240"/>
            <a:ext cx="2697480" cy="914400"/>
          </a:xfrm>
          <a:prstGeom prst="rect">
            <a:avLst/>
          </a:prstGeom>
          <a:solidFill>
            <a:srgbClr val="FAFAF7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542239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4+1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11480" y="59436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مراحل + إضافة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5349240"/>
            <a:ext cx="2697480" cy="914400"/>
          </a:xfrm>
          <a:prstGeom prst="rect">
            <a:avLst/>
          </a:prstGeom>
          <a:solidFill>
            <a:srgbClr val="FAFAF7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542239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10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3291840" y="59436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دفعات مرنة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72200" y="5349240"/>
            <a:ext cx="2697480" cy="914400"/>
          </a:xfrm>
          <a:prstGeom prst="rect">
            <a:avLst/>
          </a:prstGeom>
          <a:solidFill>
            <a:srgbClr val="FAFAF7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542239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12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172200" y="59436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شهر صيانة مجاناً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052560" y="5349240"/>
            <a:ext cx="2697480" cy="914400"/>
          </a:xfrm>
          <a:prstGeom prst="rect">
            <a:avLst/>
          </a:prstGeom>
          <a:solidFill>
            <a:srgbClr val="FAFAF7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52560" y="542239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052560" y="59436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تدريب مشمول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0" cy="7315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4" name="Shape 2"/>
          <p:cNvSpPr/>
          <p:nvPr/>
        </p:nvSpPr>
        <p:spPr>
          <a:xfrm>
            <a:off x="11384280" y="274320"/>
            <a:ext cx="457200" cy="45720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5" name="Text 3"/>
          <p:cNvSpPr/>
          <p:nvPr/>
        </p:nvSpPr>
        <p:spPr>
          <a:xfrm>
            <a:off x="1138428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57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13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جدول الدفعات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10 دفعات مرنة على 4 شهور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0332720" y="1508760"/>
            <a:ext cx="1371600" cy="5486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كل مرحلة بدفعتين: بداية + اعتماد التسليم — ضمان متبادل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554480" y="2331720"/>
            <a:ext cx="1188720" cy="594360"/>
          </a:xfrm>
          <a:prstGeom prst="rect">
            <a:avLst/>
          </a:prstGeom>
          <a:solidFill>
            <a:srgbClr val="065F4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233172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الشهر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0" y="2331720"/>
            <a:ext cx="3108960" cy="594360"/>
          </a:xfrm>
          <a:prstGeom prst="rect">
            <a:avLst/>
          </a:prstGeom>
          <a:solidFill>
            <a:srgbClr val="065F4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23317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🟢 دفعة بداية المرحلة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852160" y="2331720"/>
            <a:ext cx="3108960" cy="594360"/>
          </a:xfrm>
          <a:prstGeom prst="rect">
            <a:avLst/>
          </a:prstGeom>
          <a:solidFill>
            <a:srgbClr val="065F4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23317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🟡 دفعة اعتماد التسليم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961120" y="2331720"/>
            <a:ext cx="1371600" cy="594360"/>
          </a:xfrm>
          <a:prstGeom prst="rect">
            <a:avLst/>
          </a:prstGeom>
          <a:solidFill>
            <a:srgbClr val="064E3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0" y="23317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57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المجموع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554480" y="2926080"/>
            <a:ext cx="1188720" cy="594360"/>
          </a:xfrm>
          <a:prstGeom prst="rect">
            <a:avLst/>
          </a:prstGeom>
          <a:solidFill>
            <a:srgbClr val="D4A574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54480" y="29260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4E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1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743200" y="2926080"/>
            <a:ext cx="31089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0" y="29260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5,000 ريال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852160" y="2926080"/>
            <a:ext cx="31089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0" y="29260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5,000 ريال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961120" y="2926080"/>
            <a:ext cx="1371600" cy="594360"/>
          </a:xfrm>
          <a:prstGeom prst="rect">
            <a:avLst/>
          </a:prstGeom>
          <a:solidFill>
            <a:srgbClr val="065F4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0" y="29260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10,000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554480" y="3520440"/>
            <a:ext cx="1188720" cy="594360"/>
          </a:xfrm>
          <a:prstGeom prst="rect">
            <a:avLst/>
          </a:prstGeom>
          <a:solidFill>
            <a:srgbClr val="D4A574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54480" y="352044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4E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2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2743200" y="3520440"/>
            <a:ext cx="3108960" cy="59436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0" y="35204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5,000 ريال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852160" y="3520440"/>
            <a:ext cx="3108960" cy="59436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52160" y="35204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5,000 ريال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961120" y="3520440"/>
            <a:ext cx="1371600" cy="594360"/>
          </a:xfrm>
          <a:prstGeom prst="rect">
            <a:avLst/>
          </a:prstGeom>
          <a:solidFill>
            <a:srgbClr val="065F4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61120" y="35204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10,000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1554480" y="4114800"/>
            <a:ext cx="1188720" cy="594360"/>
          </a:xfrm>
          <a:prstGeom prst="rect">
            <a:avLst/>
          </a:prstGeom>
          <a:solidFill>
            <a:srgbClr val="D4A574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554480" y="41148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4E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3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2743200" y="4114800"/>
            <a:ext cx="31089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41148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5,000 ريال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852160" y="4114800"/>
            <a:ext cx="31089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52160" y="41148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5,000 ريال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8961120" y="4114800"/>
            <a:ext cx="1371600" cy="594360"/>
          </a:xfrm>
          <a:prstGeom prst="rect">
            <a:avLst/>
          </a:prstGeom>
          <a:solidFill>
            <a:srgbClr val="065F4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961120" y="41148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10,000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1554480" y="4709160"/>
            <a:ext cx="1188720" cy="594360"/>
          </a:xfrm>
          <a:prstGeom prst="rect">
            <a:avLst/>
          </a:prstGeom>
          <a:solidFill>
            <a:srgbClr val="D4A574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554480" y="47091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4E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4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2743200" y="4709160"/>
            <a:ext cx="3108960" cy="59436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0" y="47091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5,000 ريال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5852160" y="4709160"/>
            <a:ext cx="3108960" cy="59436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852160" y="47091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5,000 ريال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8961120" y="4709160"/>
            <a:ext cx="1371600" cy="594360"/>
          </a:xfrm>
          <a:prstGeom prst="rect">
            <a:avLst/>
          </a:prstGeom>
          <a:solidFill>
            <a:srgbClr val="065F4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961120" y="47091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10,000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1554480" y="5303520"/>
            <a:ext cx="1188720" cy="594360"/>
          </a:xfrm>
          <a:prstGeom prst="rect">
            <a:avLst/>
          </a:prstGeom>
          <a:solidFill>
            <a:srgbClr val="B58853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554480" y="530352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➕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2743200" y="5303520"/>
            <a:ext cx="3108960" cy="59436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0" y="53035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8350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2,500 ريال (HR)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5852160" y="5303520"/>
            <a:ext cx="3108960" cy="59436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852160" y="53035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8350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2,500 ريال (HR)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8961120" y="5303520"/>
            <a:ext cx="1371600" cy="594360"/>
          </a:xfrm>
          <a:prstGeom prst="rect">
            <a:avLst/>
          </a:prstGeom>
          <a:solidFill>
            <a:srgbClr val="B58853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961120" y="53035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5,000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1554480" y="5897880"/>
            <a:ext cx="8778240" cy="713232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59" name="Text 57"/>
          <p:cNvSpPr/>
          <p:nvPr/>
        </p:nvSpPr>
        <p:spPr>
          <a:xfrm>
            <a:off x="1554480" y="5897880"/>
            <a:ext cx="8778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57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الإجمالي النهائي: 45,000 ريال سعودي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solidFill>
            <a:srgbClr val="D4A574">
              <a:alpha val="30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4E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⚖️ دفعة البداية + دفعة الاعتماد = ضمان متبادل بين الطرفين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0" cy="7315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4" name="Shape 2"/>
          <p:cNvSpPr/>
          <p:nvPr/>
        </p:nvSpPr>
        <p:spPr>
          <a:xfrm>
            <a:off x="11384280" y="274320"/>
            <a:ext cx="457200" cy="45720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5" name="Text 3"/>
          <p:cNvSpPr/>
          <p:nvPr/>
        </p:nvSpPr>
        <p:spPr>
          <a:xfrm>
            <a:off x="1138428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57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14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ما يشمله السعر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شامل بكل ما يلزم لنجاحكم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0332720" y="1508760"/>
            <a:ext cx="1371600" cy="5486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لا رسوم خفية. كل ما تحتاجه إدارة المعهد مشمول في الـ 45,000 ريال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423160"/>
            <a:ext cx="2743200" cy="1691640"/>
          </a:xfrm>
          <a:prstGeom prst="rect">
            <a:avLst/>
          </a:prstGeom>
          <a:solidFill>
            <a:srgbClr val="ECFDF5"/>
          </a:solidFill>
          <a:ln w="6350">
            <a:solidFill>
              <a:srgbClr val="0478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14600" y="2606040"/>
            <a:ext cx="548640" cy="54864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2" name="Text 10"/>
          <p:cNvSpPr/>
          <p:nvPr/>
        </p:nvSpPr>
        <p:spPr>
          <a:xfrm>
            <a:off x="251460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246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التطوير الكامل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6118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تطوير 60+ ميزة وظيفية موزّعة على المراحل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83280" y="2423160"/>
            <a:ext cx="2743200" cy="1691640"/>
          </a:xfrm>
          <a:prstGeom prst="rect">
            <a:avLst/>
          </a:prstGeom>
          <a:solidFill>
            <a:srgbClr val="ECFDF5"/>
          </a:solidFill>
          <a:ln w="6350">
            <a:solidFill>
              <a:srgbClr val="04785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94960" y="2606040"/>
            <a:ext cx="548640" cy="54864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7" name="Text 15"/>
          <p:cNvSpPr/>
          <p:nvPr/>
        </p:nvSpPr>
        <p:spPr>
          <a:xfrm>
            <a:off x="539496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520440" y="3246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التدريب لكل مرحلة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20440" y="36118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2-4 ساعات تدريب لكل مرحلة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63640" y="2423160"/>
            <a:ext cx="2743200" cy="1691640"/>
          </a:xfrm>
          <a:prstGeom prst="rect">
            <a:avLst/>
          </a:prstGeom>
          <a:solidFill>
            <a:srgbClr val="ECFDF5"/>
          </a:solidFill>
          <a:ln w="6350">
            <a:solidFill>
              <a:srgbClr val="04785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75320" y="2606040"/>
            <a:ext cx="548640" cy="54864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22" name="Text 20"/>
          <p:cNvSpPr/>
          <p:nvPr/>
        </p:nvSpPr>
        <p:spPr>
          <a:xfrm>
            <a:off x="827532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400800" y="3246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الوثائق والأدلة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0" y="36118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دليل المستخدم لكل دور + فيديوهات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144000" y="2423160"/>
            <a:ext cx="2743200" cy="1691640"/>
          </a:xfrm>
          <a:prstGeom prst="rect">
            <a:avLst/>
          </a:prstGeom>
          <a:solidFill>
            <a:srgbClr val="ECFDF5"/>
          </a:solidFill>
          <a:ln w="6350">
            <a:solidFill>
              <a:srgbClr val="04785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155680" y="2606040"/>
            <a:ext cx="548640" cy="54864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27" name="Text 25"/>
          <p:cNvSpPr/>
          <p:nvPr/>
        </p:nvSpPr>
        <p:spPr>
          <a:xfrm>
            <a:off x="1115568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🧪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281160" y="3246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الاختبار الشامل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281160" y="36118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اختبارات آلية ويدوية قبل التسليم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" y="4279392"/>
            <a:ext cx="2743200" cy="1691640"/>
          </a:xfrm>
          <a:prstGeom prst="rect">
            <a:avLst/>
          </a:prstGeom>
          <a:solidFill>
            <a:srgbClr val="ECFDF5"/>
          </a:solidFill>
          <a:ln w="6350">
            <a:solidFill>
              <a:srgbClr val="04785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14600" y="4462272"/>
            <a:ext cx="548640" cy="54864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32" name="Text 30"/>
          <p:cNvSpPr/>
          <p:nvPr/>
        </p:nvSpPr>
        <p:spPr>
          <a:xfrm>
            <a:off x="2514600" y="4462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40080" y="51023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النشر والإطلاق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" y="54681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نشر النظام + إعدادات الأمان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383280" y="4279392"/>
            <a:ext cx="2743200" cy="1691640"/>
          </a:xfrm>
          <a:prstGeom prst="rect">
            <a:avLst/>
          </a:prstGeom>
          <a:solidFill>
            <a:srgbClr val="ECFDF5"/>
          </a:solidFill>
          <a:ln w="6350">
            <a:solidFill>
              <a:srgbClr val="04785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94960" y="4462272"/>
            <a:ext cx="548640" cy="54864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37" name="Text 35"/>
          <p:cNvSpPr/>
          <p:nvPr/>
        </p:nvSpPr>
        <p:spPr>
          <a:xfrm>
            <a:off x="5394960" y="4462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🛠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3520440" y="51023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صيانة سنة كاملة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520440" y="54681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إصلاح الأعطال + تحديثات أمنية 12 شهراً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63640" y="4279392"/>
            <a:ext cx="2743200" cy="1691640"/>
          </a:xfrm>
          <a:prstGeom prst="rect">
            <a:avLst/>
          </a:prstGeom>
          <a:solidFill>
            <a:srgbClr val="ECFDF5"/>
          </a:solidFill>
          <a:ln w="6350">
            <a:solidFill>
              <a:srgbClr val="04785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75320" y="4462272"/>
            <a:ext cx="548640" cy="54864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42" name="Text 40"/>
          <p:cNvSpPr/>
          <p:nvPr/>
        </p:nvSpPr>
        <p:spPr>
          <a:xfrm>
            <a:off x="8275320" y="4462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📂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6400800" y="51023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ملكية البيانات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400800" y="54681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بياناتكم لكم. تصدير كامل في أي وقت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9144000" y="4279392"/>
            <a:ext cx="2743200" cy="1691640"/>
          </a:xfrm>
          <a:prstGeom prst="rect">
            <a:avLst/>
          </a:prstGeom>
          <a:solidFill>
            <a:srgbClr val="ECFDF5"/>
          </a:solidFill>
          <a:ln w="6350">
            <a:solidFill>
              <a:srgbClr val="04785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155680" y="4462272"/>
            <a:ext cx="548640" cy="54864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47" name="Text 45"/>
          <p:cNvSpPr/>
          <p:nvPr/>
        </p:nvSpPr>
        <p:spPr>
          <a:xfrm>
            <a:off x="11155680" y="4462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9281160" y="51023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الدعم الفني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9281160" y="54681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قنوات دعم محددة + زمن استجابة واضح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57200" y="6035040"/>
            <a:ext cx="11247120" cy="640080"/>
          </a:xfrm>
          <a:prstGeom prst="rect">
            <a:avLst/>
          </a:prstGeom>
          <a:solidFill>
            <a:srgbClr val="FEF3C7"/>
          </a:solidFill>
          <a:ln w="6350">
            <a:solidFill>
              <a:srgbClr val="D4A57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6035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8350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💎 بياناتكم لكم. ملكية الكود كاملة بعد التسليم النهائي. لا حبس بيانات. لا اعتماد على طرف ثالث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0" cy="7315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4" name="Shape 2"/>
          <p:cNvSpPr/>
          <p:nvPr/>
        </p:nvSpPr>
        <p:spPr>
          <a:xfrm>
            <a:off x="11384280" y="274320"/>
            <a:ext cx="457200" cy="45720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5" name="Text 3"/>
          <p:cNvSpPr/>
          <p:nvPr/>
        </p:nvSpPr>
        <p:spPr>
          <a:xfrm>
            <a:off x="1138428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57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الخطوات التالية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كيف ننطلق من هنا؟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0332720" y="1508760"/>
            <a:ext cx="1371600" cy="5486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خطوات واضحة من قرار اليوم إلى التسليم الأول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3657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2651760"/>
            <a:ext cx="594360" cy="594360"/>
          </a:xfrm>
          <a:prstGeom prst="ellipse">
            <a:avLst/>
          </a:prstGeom>
          <a:solidFill>
            <a:srgbClr val="065F46"/>
          </a:solidFill>
          <a:ln w="25400">
            <a:solidFill>
              <a:srgbClr val="D4A5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2651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57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4360" y="2651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اعتماد الخطة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30632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مراجعة الخطة التنفيذية والمالية واعتمادها رسمياً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51960" y="2423160"/>
            <a:ext cx="3657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0" y="2651760"/>
            <a:ext cx="594360" cy="594360"/>
          </a:xfrm>
          <a:prstGeom prst="ellipse">
            <a:avLst/>
          </a:prstGeom>
          <a:solidFill>
            <a:srgbClr val="065F46"/>
          </a:solidFill>
          <a:ln w="25400">
            <a:solidFill>
              <a:srgbClr val="D4A57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0" y="2651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57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389120" y="2651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توقيع العقد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89120" y="30632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إعداد العقد الرسمي + سداد الدفعة الأولى (5,000 ريال)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46720" y="2423160"/>
            <a:ext cx="3657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27080" y="2651760"/>
            <a:ext cx="594360" cy="594360"/>
          </a:xfrm>
          <a:prstGeom prst="ellipse">
            <a:avLst/>
          </a:prstGeom>
          <a:solidFill>
            <a:srgbClr val="065F46"/>
          </a:solidFill>
          <a:ln w="25400">
            <a:solidFill>
              <a:srgbClr val="D4A57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27080" y="2651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57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183880" y="2651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جلسة Discovery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183880" y="30632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لقاء 2-3 ساعات لتوحيد قواعد العمل وتسليم النماذج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005072"/>
            <a:ext cx="3657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37560" y="4233672"/>
            <a:ext cx="594360" cy="594360"/>
          </a:xfrm>
          <a:prstGeom prst="ellipse">
            <a:avLst/>
          </a:prstGeom>
          <a:solidFill>
            <a:srgbClr val="065F46"/>
          </a:solidFill>
          <a:ln w="25400">
            <a:solidFill>
              <a:srgbClr val="D4A57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42336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57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94360" y="42336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انطلاق المرحلة 1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94360" y="4645152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بدء التطوير الفعلي خلال 5 أيام عمل من التوقيع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251960" y="4005072"/>
            <a:ext cx="3657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32320" y="4233672"/>
            <a:ext cx="594360" cy="594360"/>
          </a:xfrm>
          <a:prstGeom prst="ellipse">
            <a:avLst/>
          </a:prstGeom>
          <a:solidFill>
            <a:srgbClr val="065F46"/>
          </a:solidFill>
          <a:ln w="25400">
            <a:solidFill>
              <a:srgbClr val="D4A57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0" y="42336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57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5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389120" y="42336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متابعة أسبوعية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389120" y="4645152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اجتماع 30 دقيقة كل أسبوع لاستعراض التقدم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046720" y="4005072"/>
            <a:ext cx="3657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927080" y="4233672"/>
            <a:ext cx="594360" cy="594360"/>
          </a:xfrm>
          <a:prstGeom prst="ellipse">
            <a:avLst/>
          </a:prstGeom>
          <a:solidFill>
            <a:srgbClr val="065F46"/>
          </a:solidFill>
          <a:ln w="25400">
            <a:solidFill>
              <a:srgbClr val="D4A57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927080" y="42336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57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6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8183880" y="42336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تسليم المرحلة 1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183880" y="4645152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بعد 4 أسابيع — منصة اختبارات قابلة للاستخدام الفعلي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5943600"/>
            <a:ext cx="11247120" cy="77724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5943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57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🚀 أول تسليم في غضون 4 أسابيع من توقيع العقد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0" y="-3657600"/>
            <a:ext cx="7315200" cy="7315200"/>
          </a:xfrm>
          <a:prstGeom prst="ellipse">
            <a:avLst/>
          </a:prstGeom>
          <a:solidFill>
            <a:srgbClr val="D4A574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3200400"/>
            <a:ext cx="7315200" cy="7315200"/>
          </a:xfrm>
          <a:prstGeom prst="ellipse">
            <a:avLst/>
          </a:prstGeom>
          <a:solidFill>
            <a:srgbClr val="D4A574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11247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D4A57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شكراً لكم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على ثقتكم واهتمامكم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166360" y="3749040"/>
            <a:ext cx="1828800" cy="5486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9319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spc="400" kern="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IIMS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نظام إدارة المعهد التدريبي المتكامل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52120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4A57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"التحوّل الرقمي الذي يستحقه معهدكم"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6263640"/>
            <a:ext cx="11247120" cy="45720"/>
          </a:xfrm>
          <a:prstGeom prst="rect">
            <a:avLst/>
          </a:prstGeom>
          <a:solidFill>
            <a:srgbClr val="D4A574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في انتظار قراركم لانطلاق الرحلة الرقمية معاً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IIMS Executive Presentation</dc:title>
  <dc:subject>PptxGenJS Presentation</dc:subject>
  <dc:creator>IIMS Team</dc:creator>
  <cp:lastModifiedBy>IIMS Team</cp:lastModifiedBy>
  <cp:revision>1</cp:revision>
  <dcterms:created xsi:type="dcterms:W3CDTF">2026-05-14T04:09:44Z</dcterms:created>
  <dcterms:modified xsi:type="dcterms:W3CDTF">2026-05-14T04:09:44Z</dcterms:modified>
</cp:coreProperties>
</file>